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Oswald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swald-bold.fntdata"/><Relationship Id="rId10" Type="http://schemas.openxmlformats.org/officeDocument/2006/relationships/font" Target="fonts/Oswald-regular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98693f09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98693f09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6670584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6667058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66670584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66670584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01925" y="125450"/>
            <a:ext cx="8520600" cy="1307400"/>
          </a:xfrm>
          <a:prstGeom prst="rect">
            <a:avLst/>
          </a:prstGeom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-GB" sz="3180">
                <a:latin typeface="Oswald"/>
                <a:ea typeface="Oswald"/>
                <a:cs typeface="Oswald"/>
                <a:sym typeface="Oswald"/>
              </a:rPr>
              <a:t>MD-STGAT: A Multi-Modal Dynamic Temporal Graph Attention Network for Air Quality Forecasting</a:t>
            </a:r>
            <a:endParaRPr b="1" i="1" sz="318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01925" y="2901050"/>
            <a:ext cx="3122400" cy="972300"/>
          </a:xfrm>
          <a:prstGeom prst="rect">
            <a:avLst/>
          </a:prstGeom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i="1" lang="en-GB" sz="205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Aduru Guhya 23BPS1009</a:t>
            </a:r>
            <a:endParaRPr b="1" i="1" sz="20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i="1" sz="20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i="1" lang="en-GB" sz="205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Ayush Acharya 23BPS1078</a:t>
            </a:r>
            <a:endParaRPr b="1" i="1" sz="205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3525" y="1895263"/>
            <a:ext cx="3601550" cy="298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16875" y="414324"/>
            <a:ext cx="4455000" cy="2309400"/>
          </a:xfrm>
          <a:prstGeom prst="rect">
            <a:avLst/>
          </a:prstGeom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1" lang="en-GB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Background</a:t>
            </a:r>
            <a:endParaRPr b="1" i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Air pollution is a major global environmental and health concern.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Accurate </a:t>
            </a:r>
            <a:r>
              <a:rPr b="1" lang="en-GB" sz="1400">
                <a:solidFill>
                  <a:schemeClr val="dk1"/>
                </a:solidFill>
              </a:rPr>
              <a:t>PM2.5 forecasting</a:t>
            </a:r>
            <a:r>
              <a:rPr lang="en-GB" sz="1400">
                <a:solidFill>
                  <a:schemeClr val="dk1"/>
                </a:solidFill>
              </a:rPr>
              <a:t> supports early warnings and urban planning.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Existing models struggle to capture </a:t>
            </a:r>
            <a:r>
              <a:rPr b="1" lang="en-GB" sz="1400">
                <a:solidFill>
                  <a:schemeClr val="dk1"/>
                </a:solidFill>
              </a:rPr>
              <a:t>spatial, temporal, and weather-driven</a:t>
            </a:r>
            <a:r>
              <a:rPr lang="en-GB" sz="1400">
                <a:solidFill>
                  <a:schemeClr val="dk1"/>
                </a:solidFill>
              </a:rPr>
              <a:t> pollution dynamics.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i="1" sz="1803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725912" y="414324"/>
            <a:ext cx="4247400" cy="2309400"/>
          </a:xfrm>
          <a:prstGeom prst="rect">
            <a:avLst/>
          </a:prstGeom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i="1" lang="en-GB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Challenges</a:t>
            </a:r>
            <a:endParaRPr b="1" i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Missing and noisy sensor data.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Dynamic influence of meteorological conditions.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Spatial dependency between monitoring stations.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Physically unrealistic predictions in purely data-d</a:t>
            </a:r>
            <a:r>
              <a:rPr lang="en-GB" sz="1400">
                <a:solidFill>
                  <a:schemeClr val="dk1"/>
                </a:solidFill>
              </a:rPr>
              <a:t>r</a:t>
            </a:r>
            <a:r>
              <a:rPr lang="en-GB" sz="1400">
                <a:solidFill>
                  <a:schemeClr val="dk1"/>
                </a:solidFill>
              </a:rPr>
              <a:t>iven models</a:t>
            </a:r>
            <a:r>
              <a:rPr lang="en-GB" sz="1400">
                <a:solidFill>
                  <a:schemeClr val="dk1"/>
                </a:solidFill>
              </a:rPr>
              <a:t>.</a:t>
            </a:r>
            <a:endParaRPr b="1" sz="1903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4798" y="-82077"/>
            <a:ext cx="2874000" cy="4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-GB" sz="2220">
                <a:latin typeface="Oswald"/>
                <a:ea typeface="Oswald"/>
                <a:cs typeface="Oswald"/>
                <a:sym typeface="Oswald"/>
              </a:rPr>
              <a:t>Problem Statement</a:t>
            </a:r>
            <a:endParaRPr b="1" i="1" sz="222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16875" y="2830462"/>
            <a:ext cx="8887500" cy="2203200"/>
          </a:xfrm>
          <a:prstGeom prst="rect">
            <a:avLst/>
          </a:prstGeom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GB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Objective</a:t>
            </a:r>
            <a:endParaRPr b="1" i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Develop a multi-modal deep learning framework</a:t>
            </a:r>
            <a:r>
              <a:rPr lang="en-GB" sz="1400">
                <a:solidFill>
                  <a:schemeClr val="dk1"/>
                </a:solidFill>
              </a:rPr>
              <a:t> by integrating </a:t>
            </a:r>
            <a:r>
              <a:rPr b="1" lang="en-GB" sz="1400">
                <a:solidFill>
                  <a:schemeClr val="dk1"/>
                </a:solidFill>
              </a:rPr>
              <a:t>air quality and meteorological data</a:t>
            </a:r>
            <a:r>
              <a:rPr lang="en-GB" sz="1400">
                <a:solidFill>
                  <a:schemeClr val="dk1"/>
                </a:solidFill>
              </a:rPr>
              <a:t> for improved PM2.5 forecasting.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Capture dynamic spatial and temporal dependencies</a:t>
            </a:r>
            <a:r>
              <a:rPr lang="en-GB" sz="1400">
                <a:solidFill>
                  <a:schemeClr val="dk1"/>
                </a:solidFill>
              </a:rPr>
              <a:t> using </a:t>
            </a:r>
            <a:r>
              <a:rPr b="1" lang="en-GB" sz="1400">
                <a:solidFill>
                  <a:schemeClr val="dk1"/>
                </a:solidFill>
              </a:rPr>
              <a:t>Graph Attention Networks (GAT)</a:t>
            </a:r>
            <a:r>
              <a:rPr lang="en-GB" sz="1400">
                <a:solidFill>
                  <a:schemeClr val="dk1"/>
                </a:solidFill>
              </a:rPr>
              <a:t> and </a:t>
            </a:r>
            <a:r>
              <a:rPr b="1" lang="en-GB" sz="1400">
                <a:solidFill>
                  <a:schemeClr val="dk1"/>
                </a:solidFill>
              </a:rPr>
              <a:t>Transformer-based temporal modeling</a:t>
            </a:r>
            <a:r>
              <a:rPr lang="en-GB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Generate accurate and physically consistent forecasts</a:t>
            </a:r>
            <a:r>
              <a:rPr lang="en-GB" sz="1400">
                <a:solidFill>
                  <a:schemeClr val="dk1"/>
                </a:solidFill>
              </a:rPr>
              <a:t> through </a:t>
            </a:r>
            <a:r>
              <a:rPr b="1" lang="en-GB" sz="1400">
                <a:solidFill>
                  <a:schemeClr val="dk1"/>
                </a:solidFill>
              </a:rPr>
              <a:t>physics-guided regularization</a:t>
            </a:r>
            <a:r>
              <a:rPr lang="en-GB" sz="1400">
                <a:solidFill>
                  <a:schemeClr val="dk1"/>
                </a:solidFill>
              </a:rPr>
              <a:t>, ensuring robustness to noisy and missing sensor data.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i="1"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4430" y="-33758"/>
            <a:ext cx="4982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-GB" sz="2220">
                <a:latin typeface="Oswald"/>
                <a:ea typeface="Oswald"/>
                <a:cs typeface="Oswald"/>
                <a:sym typeface="Oswald"/>
              </a:rPr>
              <a:t>Proposed MD-STGAT Framework </a:t>
            </a:r>
            <a:endParaRPr b="1" i="1" sz="222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112569" y="542062"/>
            <a:ext cx="4900200" cy="4413300"/>
          </a:xfrm>
          <a:prstGeom prst="rect">
            <a:avLst/>
          </a:prstGeom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GB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Proposed MD-STGAT Framework</a:t>
            </a:r>
            <a:endParaRPr b="1" i="1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Preprocess</a:t>
            </a:r>
            <a:r>
              <a:rPr lang="en-GB" sz="1600">
                <a:solidFill>
                  <a:schemeClr val="dk1"/>
                </a:solidFill>
              </a:rPr>
              <a:t> air quality and weather data using KNN imputation, normalization, and sliding windows.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Extract and fuse</a:t>
            </a:r>
            <a:r>
              <a:rPr lang="en-GB" sz="1600">
                <a:solidFill>
                  <a:schemeClr val="dk1"/>
                </a:solidFill>
              </a:rPr>
              <a:t> pollution and weather features through dual encoders and </a:t>
            </a:r>
            <a:r>
              <a:rPr b="1" lang="en-GB" sz="1600">
                <a:solidFill>
                  <a:schemeClr val="dk1"/>
                </a:solidFill>
              </a:rPr>
              <a:t>Cross-Attention</a:t>
            </a:r>
            <a:r>
              <a:rPr lang="en-GB" sz="1600">
                <a:solidFill>
                  <a:schemeClr val="dk1"/>
                </a:solidFill>
              </a:rPr>
              <a:t>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Learn spatial-temporal dependencies</a:t>
            </a:r>
            <a:r>
              <a:rPr lang="en-GB" sz="1600">
                <a:solidFill>
                  <a:schemeClr val="dk1"/>
                </a:solidFill>
              </a:rPr>
              <a:t> using </a:t>
            </a:r>
            <a:r>
              <a:rPr b="1" lang="en-GB" sz="1600">
                <a:solidFill>
                  <a:schemeClr val="dk1"/>
                </a:solidFill>
              </a:rPr>
              <a:t>Graph Attention Networks (GAT)</a:t>
            </a:r>
            <a:r>
              <a:rPr lang="en-GB" sz="1600">
                <a:solidFill>
                  <a:schemeClr val="dk1"/>
                </a:solidFill>
              </a:rPr>
              <a:t> and a </a:t>
            </a:r>
            <a:r>
              <a:rPr b="1" lang="en-GB" sz="1600">
                <a:solidFill>
                  <a:schemeClr val="dk1"/>
                </a:solidFill>
              </a:rPr>
              <a:t>Temporal Transformer</a:t>
            </a:r>
            <a:r>
              <a:rPr lang="en-GB" sz="1600">
                <a:solidFill>
                  <a:schemeClr val="dk1"/>
                </a:solidFill>
              </a:rPr>
              <a:t>.</a:t>
            </a:r>
            <a:br>
              <a:rPr lang="en-GB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Predict 24–72 hour PM2.5</a:t>
            </a:r>
            <a:r>
              <a:rPr lang="en-GB" sz="1600">
                <a:solidFill>
                  <a:schemeClr val="dk1"/>
                </a:solidFill>
              </a:rPr>
              <a:t> concentrations with a </a:t>
            </a:r>
            <a:r>
              <a:rPr b="1" lang="en-GB" sz="1600">
                <a:solidFill>
                  <a:schemeClr val="dk1"/>
                </a:solidFill>
              </a:rPr>
              <a:t>physics-guided regularization</a:t>
            </a:r>
            <a:r>
              <a:rPr lang="en-GB" sz="1600">
                <a:solidFill>
                  <a:schemeClr val="dk1"/>
                </a:solidFill>
              </a:rPr>
              <a:t> for stable and realistic forecasts.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7596" l="0" r="0" t="0"/>
          <a:stretch/>
        </p:blipFill>
        <p:spPr>
          <a:xfrm>
            <a:off x="5147958" y="0"/>
            <a:ext cx="37953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-16609" y="0"/>
            <a:ext cx="167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-GB" sz="2220">
                <a:latin typeface="Oswald"/>
                <a:ea typeface="Oswald"/>
                <a:cs typeface="Oswald"/>
                <a:sym typeface="Oswald"/>
              </a:rPr>
              <a:t>References</a:t>
            </a:r>
            <a:endParaRPr b="1" i="1" sz="222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572700"/>
            <a:ext cx="8520600" cy="4371000"/>
          </a:xfrm>
          <a:prstGeom prst="rect">
            <a:avLst/>
          </a:prstGeom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[1]</a:t>
            </a:r>
            <a:r>
              <a:rPr lang="en-GB" sz="1100">
                <a:solidFill>
                  <a:schemeClr val="dk1"/>
                </a:solidFill>
              </a:rPr>
              <a:t> X. Yi, J. Zhang, Z. Wang, T. Li, and Y. Zheng, </a:t>
            </a:r>
            <a:r>
              <a:rPr i="1" lang="en-GB" sz="1100">
                <a:solidFill>
                  <a:schemeClr val="dk1"/>
                </a:solidFill>
              </a:rPr>
              <a:t>"Deep Distributed Fusion Network for Air Quality Prediction,"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Proceedings of the 24th ACM SIGKDD International Conference on Knowledge Discovery &amp; Data Mining (KDD)</a:t>
            </a:r>
            <a:r>
              <a:rPr lang="en-GB" sz="1100">
                <a:solidFill>
                  <a:schemeClr val="dk1"/>
                </a:solidFill>
              </a:rPr>
              <a:t>, 2018.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[2]</a:t>
            </a:r>
            <a:r>
              <a:rPr lang="en-GB" sz="1100">
                <a:solidFill>
                  <a:schemeClr val="dk1"/>
                </a:solidFill>
              </a:rPr>
              <a:t> X. Zou, J. Zhao, D. Zhao, B. Sun, Y. He, and S. Fuentes, </a:t>
            </a:r>
            <a:r>
              <a:rPr i="1" lang="en-GB" sz="1100">
                <a:solidFill>
                  <a:schemeClr val="dk1"/>
                </a:solidFill>
              </a:rPr>
              <a:t>"Air Quality Prediction Based on a Spatiotemporal Attention Mechanism,"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Mobile Information Systems</a:t>
            </a:r>
            <a:r>
              <a:rPr lang="en-GB" sz="1100">
                <a:solidFill>
                  <a:schemeClr val="dk1"/>
                </a:solidFill>
              </a:rPr>
              <a:t> 2021.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[3]</a:t>
            </a:r>
            <a:r>
              <a:rPr lang="en-GB" sz="1100">
                <a:solidFill>
                  <a:schemeClr val="dk1"/>
                </a:solidFill>
              </a:rPr>
              <a:t> S. Du, T. Li, Y. Yang, and S.-J. Horng, </a:t>
            </a:r>
            <a:r>
              <a:rPr i="1" lang="en-GB" sz="1100">
                <a:solidFill>
                  <a:schemeClr val="dk1"/>
                </a:solidFill>
              </a:rPr>
              <a:t>"Deep Air Quality Forecasting Using Hybrid Deep Learning Framework,"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IEEE Transactions on Knowledge and Data Engineering</a:t>
            </a:r>
            <a:r>
              <a:rPr lang="en-GB" sz="1100">
                <a:solidFill>
                  <a:schemeClr val="dk1"/>
                </a:solidFill>
              </a:rPr>
              <a:t>, 2021.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[4]</a:t>
            </a:r>
            <a:r>
              <a:rPr lang="en-GB" sz="1100">
                <a:solidFill>
                  <a:schemeClr val="dk1"/>
                </a:solidFill>
              </a:rPr>
              <a:t> M. Pandey, V. Jain, N. Godhani, S. N. Tripathi, and P. Rai, </a:t>
            </a:r>
            <a:r>
              <a:rPr i="1" lang="en-GB" sz="1100">
                <a:solidFill>
                  <a:schemeClr val="dk1"/>
                </a:solidFill>
              </a:rPr>
              <a:t>"Spatio-Temporal Forecasting of PM2.5 via Spatial-Diffusion Guided Encoder–Decoder Architecture,"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arXiv preprint arXiv:2412.13935</a:t>
            </a:r>
            <a:r>
              <a:rPr lang="en-GB" sz="1100">
                <a:solidFill>
                  <a:schemeClr val="dk1"/>
                </a:solidFill>
              </a:rPr>
              <a:t>, 2024.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[5]</a:t>
            </a:r>
            <a:r>
              <a:rPr lang="en-GB" sz="1100">
                <a:solidFill>
                  <a:schemeClr val="dk1"/>
                </a:solidFill>
              </a:rPr>
              <a:t> Y. Qi, Q. Li, H. Karimian, and D. Liu, </a:t>
            </a:r>
            <a:r>
              <a:rPr i="1" lang="en-GB" sz="1100">
                <a:solidFill>
                  <a:schemeClr val="dk1"/>
                </a:solidFill>
              </a:rPr>
              <a:t>"A Hybrid Model for Spatiotemporal Forecasting of PM2.5 Based on Graph Convolutional Neural Network and Long Short-Term Memory,"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Science of the Total Environment</a:t>
            </a:r>
            <a:r>
              <a:rPr lang="en-GB" sz="1100">
                <a:solidFill>
                  <a:schemeClr val="dk1"/>
                </a:solidFill>
              </a:rPr>
              <a:t>, 2019.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[6]</a:t>
            </a:r>
            <a:r>
              <a:rPr lang="en-GB" sz="1100">
                <a:solidFill>
                  <a:schemeClr val="dk1"/>
                </a:solidFill>
              </a:rPr>
              <a:t> J. Xu, L. Chen, M. Lv, C. Zhan, S. Chen, and J. Chang, </a:t>
            </a:r>
            <a:r>
              <a:rPr i="1" lang="en-GB" sz="1100">
                <a:solidFill>
                  <a:schemeClr val="dk1"/>
                </a:solidFill>
              </a:rPr>
              <a:t>"HighAir: A Hierarchical Graph Neural Network-Based Air Quality Forecasting Method,"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arXiv preprint arXiv:2101.04264</a:t>
            </a:r>
            <a:r>
              <a:rPr lang="en-GB" sz="1100">
                <a:solidFill>
                  <a:schemeClr val="dk1"/>
                </a:solidFill>
              </a:rPr>
              <a:t>, 2021.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[7]</a:t>
            </a:r>
            <a:r>
              <a:rPr lang="en-GB" sz="1100">
                <a:solidFill>
                  <a:schemeClr val="dk1"/>
                </a:solidFill>
              </a:rPr>
              <a:t> S. Wang, Y. Li, J. Zhang, Q. Meng, L. Meng, and F. Gao, </a:t>
            </a:r>
            <a:r>
              <a:rPr i="1" lang="en-GB" sz="1100">
                <a:solidFill>
                  <a:schemeClr val="dk1"/>
                </a:solidFill>
              </a:rPr>
              <a:t>"PM2.5-GNN: A Domain Knowledge Enhanced Graph Neural Network for PM2.5 Forecasting,"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Proceedings of the 28th ACM SIGSPATIAL International Conference on Advances in Geographic Information Systems</a:t>
            </a:r>
            <a:r>
              <a:rPr lang="en-GB" sz="1100">
                <a:solidFill>
                  <a:schemeClr val="dk1"/>
                </a:solidFill>
              </a:rPr>
              <a:t>, 2020.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[8]</a:t>
            </a:r>
            <a:r>
              <a:rPr lang="en-GB" sz="1100">
                <a:solidFill>
                  <a:schemeClr val="dk1"/>
                </a:solidFill>
              </a:rPr>
              <a:t>P. S. S. Ejurothu, S. Mandal, and M. Thakur, </a:t>
            </a:r>
            <a:r>
              <a:rPr i="1" lang="en-GB" sz="1100">
                <a:solidFill>
                  <a:schemeClr val="dk1"/>
                </a:solidFill>
              </a:rPr>
              <a:t>"Forecasting PM2.5 Concentration in India Using a Cluster-Based Hybrid Graph Neural Network Approach,"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Asia-Pacific Journal of Atmospheric Sciences</a:t>
            </a:r>
            <a:r>
              <a:rPr lang="en-GB" sz="1100">
                <a:solidFill>
                  <a:schemeClr val="dk1"/>
                </a:solidFill>
              </a:rPr>
              <a:t>, vol. 59, no. 5, pp. 545–561, 2023.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[9]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J. Ahn, J. H. Lee, P. Kordjamshidi, and M. Sioutis</a:t>
            </a:r>
            <a:r>
              <a:rPr lang="en-GB" sz="1100">
                <a:solidFill>
                  <a:schemeClr val="dk1"/>
                </a:solidFill>
              </a:rPr>
              <a:t>, </a:t>
            </a:r>
            <a:r>
              <a:rPr i="1" lang="en-GB" sz="1100">
                <a:solidFill>
                  <a:schemeClr val="dk1"/>
                </a:solidFill>
              </a:rPr>
              <a:t>"Spatial-Temporal Air Quality Prediction Using Graph Neural Networks and Transformers,"</a:t>
            </a:r>
            <a:r>
              <a:rPr lang="en-GB" sz="1100">
                <a:solidFill>
                  <a:schemeClr val="dk1"/>
                </a:solidFill>
              </a:rPr>
              <a:t> in </a:t>
            </a:r>
            <a:r>
              <a:rPr b="1" lang="en-GB" sz="1100">
                <a:solidFill>
                  <a:schemeClr val="dk1"/>
                </a:solidFill>
              </a:rPr>
              <a:t>Proceedings of the 3rd International Workshop on Spatio-Temporal Reasoning and Learning (STRL 2024)</a:t>
            </a:r>
            <a:r>
              <a:rPr lang="en-GB" sz="1100">
                <a:solidFill>
                  <a:schemeClr val="dk1"/>
                </a:solidFill>
              </a:rPr>
              <a:t>, </a:t>
            </a:r>
            <a:r>
              <a:rPr b="1" lang="en-GB" sz="1100">
                <a:solidFill>
                  <a:schemeClr val="dk1"/>
                </a:solidFill>
              </a:rPr>
              <a:t>CEUR Workshop Proceedings</a:t>
            </a:r>
            <a:r>
              <a:rPr lang="en-GB" sz="1100">
                <a:solidFill>
                  <a:schemeClr val="dk1"/>
                </a:solidFill>
              </a:rPr>
              <a:t>, vol. 3827, Jeju Island, South Korea, Aug. 2024. </a:t>
            </a:r>
            <a:endParaRPr b="1" i="1" sz="120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